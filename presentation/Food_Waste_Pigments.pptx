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3200" b="1">
          <a:latin typeface="Calibri"/>
        </a:defRPr>
      </a:lvl1pPr>
    </p:titleStyle>
    <p:bodyStyle>
      <a:lvl1pPr>
        <a:defRPr sz="2000">
          <a:latin typeface="Calibri"/>
        </a:defRPr>
      </a:lvl1pPr>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7. Utilization of Food Waste for Pigment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The global food industry generates nearly 1.6 billion tons of food waste annually, including around 1.3 billion tons of edible material, leading to major economic losses and environmental pollution. Therefore, recent research has focused on converting food waste into valuable products such as bioethanol, biodiesel, biofertilizers, and natural pigments.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7. Utilization of Food Waste for Pigment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Food waste is considered a rich source of natural pigments and bioactive compounds, especially wastes derived from fruits and vegetables such as:</a:t>
            </a:r>
          </a:p>
          <a:p>
            <a:pPr marL="342900" indent="-342900">
              <a:buFont typeface="Arial" panose="020B0604020202020204" pitchFamily="34" charset="0"/>
              <a:buChar char="•"/>
            </a:pPr>
            <a:r>
              <a:rPr lang="en-US" sz="2000" b="0" dirty="0">
                <a:latin typeface="Calibri"/>
              </a:rPr>
              <a:t>grape pomace</a:t>
            </a:r>
          </a:p>
          <a:p>
            <a:pPr marL="342900" indent="-342900">
              <a:buFont typeface="Arial" panose="020B0604020202020204" pitchFamily="34" charset="0"/>
              <a:buChar char="•"/>
            </a:pPr>
            <a:r>
              <a:rPr lang="en-US" sz="2000" b="0" dirty="0">
                <a:latin typeface="Calibri"/>
              </a:rPr>
              <a:t>fruit peels</a:t>
            </a:r>
          </a:p>
          <a:p>
            <a:pPr marL="342900" indent="-342900">
              <a:buFont typeface="Arial" panose="020B0604020202020204" pitchFamily="34" charset="0"/>
              <a:buChar char="•"/>
            </a:pPr>
            <a:r>
              <a:rPr lang="en-US" sz="2000" b="0" dirty="0">
                <a:latin typeface="Calibri"/>
              </a:rPr>
              <a:t>tomato residues</a:t>
            </a:r>
          </a:p>
          <a:p>
            <a:pPr marL="342900" indent="-342900">
              <a:buFont typeface="Arial" panose="020B0604020202020204" pitchFamily="34" charset="0"/>
              <a:buChar char="•"/>
            </a:pPr>
            <a:r>
              <a:rPr lang="en-US" sz="2000" b="0" dirty="0">
                <a:latin typeface="Calibri"/>
              </a:rPr>
              <a:t>carrot waste</a:t>
            </a:r>
          </a:p>
          <a:p>
            <a:pPr marL="342900" indent="-342900">
              <a:buFont typeface="Arial" panose="020B0604020202020204" pitchFamily="34" charset="0"/>
              <a:buChar char="•"/>
            </a:pPr>
            <a:r>
              <a:rPr lang="en-US" sz="2000" b="0" dirty="0">
                <a:latin typeface="Calibri"/>
              </a:rPr>
              <a:t>sweet potato residues</a:t>
            </a:r>
          </a:p>
          <a:p>
            <a:pPr marL="342900" indent="-342900">
              <a:buFont typeface="Arial" panose="020B0604020202020204" pitchFamily="34" charset="0"/>
              <a:buChar char="•"/>
            </a:pPr>
            <a:r>
              <a:rPr lang="en-US" sz="2000" b="0" dirty="0">
                <a:latin typeface="Calibri"/>
              </a:rPr>
              <a:t>onion peels</a:t>
            </a:r>
          </a:p>
          <a:p>
            <a:pPr marL="342900" indent="-342900">
              <a:buFont typeface="Arial" panose="020B0604020202020204" pitchFamily="34" charset="0"/>
              <a:buChar char="•"/>
            </a:pPr>
            <a:r>
              <a:rPr lang="en-US" sz="2000" b="0" dirty="0">
                <a:latin typeface="Calibri"/>
              </a:rPr>
              <a:t>beet waste</a:t>
            </a:r>
          </a:p>
          <a:p>
            <a:pPr marL="342900" indent="-342900">
              <a:buFont typeface="Arial" panose="020B0604020202020204" pitchFamily="34" charset="0"/>
              <a:buChar char="•"/>
            </a:pPr>
            <a:r>
              <a:rPr lang="en-US" sz="2000" b="0" dirty="0">
                <a:latin typeface="Calibri"/>
              </a:rPr>
              <a:t>coffee grounds.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7. Utilization of Food Waste for Pigment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These wastes can either be used directly or utilized as growth substrates for pigment-producing microorganisms. Microbial pigments such as:</a:t>
            </a:r>
          </a:p>
          <a:p>
            <a:pPr marL="342900" indent="-342900">
              <a:buFont typeface="Arial" panose="020B0604020202020204" pitchFamily="34" charset="0"/>
              <a:buChar char="•"/>
            </a:pPr>
            <a:r>
              <a:rPr lang="en-US" sz="2000" b="0" dirty="0">
                <a:latin typeface="Calibri"/>
              </a:rPr>
              <a:t>carotenoids</a:t>
            </a:r>
          </a:p>
          <a:p>
            <a:pPr marL="342900" indent="-342900">
              <a:buFont typeface="Arial" panose="020B0604020202020204" pitchFamily="34" charset="0"/>
              <a:buChar char="•"/>
            </a:pPr>
            <a:r>
              <a:rPr lang="en-US" sz="2000" b="0" dirty="0">
                <a:latin typeface="Calibri"/>
              </a:rPr>
              <a:t>melanins</a:t>
            </a:r>
          </a:p>
          <a:p>
            <a:pPr marL="342900" indent="-342900">
              <a:buFont typeface="Arial" panose="020B0604020202020204" pitchFamily="34" charset="0"/>
              <a:buChar char="•"/>
            </a:pPr>
            <a:r>
              <a:rPr lang="en-US" sz="2000" b="0" dirty="0">
                <a:latin typeface="Calibri"/>
              </a:rPr>
              <a:t>phycobilins</a:t>
            </a:r>
          </a:p>
          <a:p>
            <a:pPr marL="342900" indent="-342900">
              <a:buFont typeface="Arial" panose="020B0604020202020204" pitchFamily="34" charset="0"/>
              <a:buChar char="•"/>
            </a:pPr>
            <a:r>
              <a:rPr lang="en-US" sz="2000" b="0" dirty="0">
                <a:latin typeface="Calibri"/>
              </a:rPr>
              <a:t>anthocyanins</a:t>
            </a:r>
          </a:p>
          <a:p>
            <a:pPr marL="342900" indent="-342900">
              <a:buFont typeface="Arial" panose="020B0604020202020204" pitchFamily="34" charset="0"/>
              <a:buChar char="•"/>
            </a:pPr>
            <a:r>
              <a:rPr lang="en-US" sz="2000" b="0" dirty="0">
                <a:latin typeface="Calibri"/>
              </a:rPr>
              <a:t>chlorophylls</a:t>
            </a:r>
          </a:p>
          <a:p>
            <a:pPr marL="342900" indent="-342900">
              <a:buFont typeface="Arial" panose="020B0604020202020204" pitchFamily="34" charset="0"/>
              <a:buChar char="•"/>
            </a:pPr>
            <a:r>
              <a:rPr lang="en-US" sz="2000" b="0" dirty="0">
                <a:latin typeface="Calibri"/>
              </a:rPr>
              <a:t>xanthophylls</a:t>
            </a:r>
          </a:p>
          <a:p>
            <a:pPr>
              <a:spcAft>
                <a:spcPts val="600"/>
              </a:spcAft>
            </a:pPr>
            <a:r>
              <a:rPr lang="en-US" sz="2000" b="0" dirty="0">
                <a:latin typeface="Calibri"/>
              </a:rPr>
              <a:t>are biodegradable, non-toxic, environmentally friendly, and possess antioxidant properties.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7. Utilization of Food Waste for Pigment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The process mainly depends on fermenting agricultural and food wastes using bacteria, fungi, yeasts, and algae to produce different pigments. Important pigment-producing microorganisms include:</a:t>
            </a:r>
          </a:p>
          <a:p>
            <a:pPr marL="342900" indent="-342900">
              <a:buFont typeface="Arial" panose="020B0604020202020204" pitchFamily="34" charset="0"/>
              <a:buChar char="•"/>
            </a:pPr>
            <a:r>
              <a:rPr lang="en-US" sz="2000" b="0" dirty="0">
                <a:latin typeface="Calibri"/>
              </a:rPr>
              <a:t>Serratia</a:t>
            </a:r>
          </a:p>
          <a:p>
            <a:pPr marL="342900" indent="-342900">
              <a:buFont typeface="Arial" panose="020B0604020202020204" pitchFamily="34" charset="0"/>
              <a:buChar char="•"/>
            </a:pPr>
            <a:r>
              <a:rPr lang="en-US" sz="2000" b="0" dirty="0">
                <a:latin typeface="Calibri"/>
              </a:rPr>
              <a:t>Pseudomonas</a:t>
            </a:r>
          </a:p>
          <a:p>
            <a:pPr marL="342900" indent="-342900">
              <a:buFont typeface="Arial" panose="020B0604020202020204" pitchFamily="34" charset="0"/>
              <a:buChar char="•"/>
            </a:pPr>
            <a:r>
              <a:rPr lang="en-US" sz="2000" b="0" dirty="0">
                <a:latin typeface="Calibri"/>
              </a:rPr>
              <a:t>Bacillus</a:t>
            </a:r>
          </a:p>
          <a:p>
            <a:pPr marL="342900" indent="-342900">
              <a:buFont typeface="Arial" panose="020B0604020202020204" pitchFamily="34" charset="0"/>
              <a:buChar char="•"/>
            </a:pPr>
            <a:r>
              <a:rPr lang="en-US" sz="2000" b="0" dirty="0">
                <a:latin typeface="Calibri"/>
              </a:rPr>
              <a:t>Vibrio</a:t>
            </a:r>
          </a:p>
          <a:p>
            <a:pPr marL="342900" indent="-342900">
              <a:buFont typeface="Arial" panose="020B0604020202020204" pitchFamily="34" charset="0"/>
              <a:buChar char="•"/>
            </a:pPr>
            <a:r>
              <a:rPr lang="en-US" sz="2000" b="0" dirty="0">
                <a:latin typeface="Calibri"/>
              </a:rPr>
              <a:t>Monascus</a:t>
            </a:r>
          </a:p>
          <a:p>
            <a:pPr marL="342900" indent="-342900">
              <a:buFont typeface="Arial" panose="020B0604020202020204" pitchFamily="34" charset="0"/>
              <a:buChar char="•"/>
            </a:pPr>
            <a:r>
              <a:rPr lang="en-US" sz="2000" b="0" dirty="0">
                <a:latin typeface="Calibri"/>
              </a:rPr>
              <a:t>Penicillium</a:t>
            </a:r>
          </a:p>
          <a:p>
            <a:pPr marL="342900" indent="-342900">
              <a:buFont typeface="Arial" panose="020B0604020202020204" pitchFamily="34" charset="0"/>
              <a:buChar char="•"/>
            </a:pPr>
            <a:r>
              <a:rPr lang="en-US" sz="2000" b="0" dirty="0">
                <a:latin typeface="Calibri"/>
              </a:rPr>
              <a:t>Rhodotorula</a:t>
            </a:r>
          </a:p>
          <a:p>
            <a:pPr>
              <a:spcAft>
                <a:spcPts val="600"/>
              </a:spcAft>
            </a:pPr>
            <a:r>
              <a:rPr lang="en-US" sz="2000" b="0" dirty="0">
                <a:latin typeface="Calibri"/>
              </a:rPr>
              <a:t>which are capable of producing red, blue, and yellow pigments.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7. Utilization of Food Waste for Pigment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For industrial applications, microbial pigments must be:</a:t>
            </a:r>
          </a:p>
          <a:p>
            <a:pPr marL="342900" indent="-342900">
              <a:buFont typeface="Arial" panose="020B0604020202020204" pitchFamily="34" charset="0"/>
              <a:buChar char="•"/>
            </a:pPr>
            <a:r>
              <a:rPr lang="en-US" sz="2000" b="0" dirty="0">
                <a:latin typeface="Calibri"/>
              </a:rPr>
              <a:t>non-toxic</a:t>
            </a:r>
          </a:p>
          <a:p>
            <a:pPr marL="342900" indent="-342900">
              <a:buFont typeface="Arial" panose="020B0604020202020204" pitchFamily="34" charset="0"/>
              <a:buChar char="•"/>
            </a:pPr>
            <a:r>
              <a:rPr lang="en-US" sz="2000" b="0" dirty="0">
                <a:latin typeface="Calibri"/>
              </a:rPr>
              <a:t>non-pathogenic</a:t>
            </a:r>
          </a:p>
          <a:p>
            <a:pPr marL="342900" indent="-342900">
              <a:buFont typeface="Arial" panose="020B0604020202020204" pitchFamily="34" charset="0"/>
              <a:buChar char="•"/>
            </a:pPr>
            <a:r>
              <a:rPr lang="en-US" sz="2000" b="0" dirty="0">
                <a:latin typeface="Calibri"/>
              </a:rPr>
              <a:t>highly productive</a:t>
            </a:r>
          </a:p>
          <a:p>
            <a:pPr marL="342900" indent="-342900">
              <a:buFont typeface="Arial" panose="020B0604020202020204" pitchFamily="34" charset="0"/>
              <a:buChar char="•"/>
            </a:pPr>
            <a:r>
              <a:rPr lang="en-US" sz="2000" b="0" dirty="0">
                <a:latin typeface="Calibri"/>
              </a:rPr>
              <a:t>stable against heat, pH, and salinity changes.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Food and agro-industrial sectors are the major contributors to food waste generation. Approximately 50% of these wastes originate from fruits, vegetables, and roots, which are naturally rich in pigments and bioactive compounds. Utilizing these wastes reduces disposal costs and supports environmental sustainability.</a:t>
            </a:r>
          </a:p>
          <a:p>
            <a:pPr>
              <a:spcAft>
                <a:spcPts val="600"/>
              </a:spcAft>
            </a:pPr>
            <a:r>
              <a:rPr lang="en-US" sz="2000" b="0" dirty="0">
                <a:latin typeface="Calibri"/>
              </a:rPr>
              <a:t>Major sources of food waste include: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1. Agricultural and Industrial By-products</a:t>
            </a:r>
          </a:p>
          <a:p>
            <a:pPr>
              <a:spcAft>
                <a:spcPts val="600"/>
              </a:spcAft>
            </a:pPr>
            <a:r>
              <a:rPr lang="en-US" sz="2000" b="0" dirty="0">
                <a:latin typeface="Calibri"/>
              </a:rPr>
              <a:t>These include:</a:t>
            </a:r>
          </a:p>
          <a:p>
            <a:pPr marL="342900" indent="-342900">
              <a:buFont typeface="Arial" panose="020B0604020202020204" pitchFamily="34" charset="0"/>
              <a:buChar char="•"/>
            </a:pPr>
            <a:r>
              <a:rPr lang="en-US" sz="2000" b="0" dirty="0">
                <a:latin typeface="Calibri"/>
              </a:rPr>
              <a:t>pulp</a:t>
            </a:r>
          </a:p>
          <a:p>
            <a:pPr marL="342900" indent="-342900">
              <a:buFont typeface="Arial" panose="020B0604020202020204" pitchFamily="34" charset="0"/>
              <a:buChar char="•"/>
            </a:pPr>
            <a:r>
              <a:rPr lang="en-US" sz="2000" b="0" dirty="0">
                <a:latin typeface="Calibri"/>
              </a:rPr>
              <a:t>peels</a:t>
            </a:r>
          </a:p>
          <a:p>
            <a:pPr marL="342900" indent="-342900">
              <a:buFont typeface="Arial" panose="020B0604020202020204" pitchFamily="34" charset="0"/>
              <a:buChar char="•"/>
            </a:pPr>
            <a:r>
              <a:rPr lang="en-US" sz="2000" b="0" dirty="0">
                <a:latin typeface="Calibri"/>
              </a:rPr>
              <a:t>seeds</a:t>
            </a:r>
          </a:p>
          <a:p>
            <a:pPr>
              <a:spcAft>
                <a:spcPts val="600"/>
              </a:spcAft>
            </a:pPr>
            <a:r>
              <a:rPr lang="en-US" sz="2000" b="0" dirty="0">
                <a:latin typeface="Calibri"/>
              </a:rPr>
              <a:t>generated during juice production, jam manufacturing, and food canning processes. These by-products contain valuable compounds such as anthocyanins that can be recovered or used in pigment production.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2. Corn Steep Liquor (CSL)</a:t>
            </a:r>
          </a:p>
          <a:p>
            <a:pPr>
              <a:spcAft>
                <a:spcPts val="600"/>
              </a:spcAft>
            </a:pPr>
            <a:r>
              <a:rPr lang="en-US" sz="2000" b="0" dirty="0">
                <a:latin typeface="Calibri"/>
              </a:rPr>
              <a:t>Corn steep liquor is a by-product of corn milling and contains:</a:t>
            </a:r>
          </a:p>
          <a:p>
            <a:pPr marL="342900" indent="-342900">
              <a:buFont typeface="Arial" panose="020B0604020202020204" pitchFamily="34" charset="0"/>
              <a:buChar char="•"/>
            </a:pPr>
            <a:r>
              <a:rPr lang="en-US" sz="2000" b="0" dirty="0">
                <a:latin typeface="Calibri"/>
              </a:rPr>
              <a:t>sugars</a:t>
            </a:r>
          </a:p>
          <a:p>
            <a:pPr marL="342900" indent="-342900">
              <a:buFont typeface="Arial" panose="020B0604020202020204" pitchFamily="34" charset="0"/>
              <a:buChar char="•"/>
            </a:pPr>
            <a:r>
              <a:rPr lang="en-US" sz="2000" b="0" dirty="0">
                <a:latin typeface="Calibri"/>
              </a:rPr>
              <a:t>amino acids</a:t>
            </a:r>
          </a:p>
          <a:p>
            <a:pPr marL="342900" indent="-342900">
              <a:buFont typeface="Arial" panose="020B0604020202020204" pitchFamily="34" charset="0"/>
              <a:buChar char="•"/>
            </a:pPr>
            <a:r>
              <a:rPr lang="en-US" sz="2000" b="0" dirty="0">
                <a:latin typeface="Calibri"/>
              </a:rPr>
              <a:t>nitrogen sources</a:t>
            </a:r>
          </a:p>
          <a:p>
            <a:pPr>
              <a:spcAft>
                <a:spcPts val="600"/>
              </a:spcAft>
            </a:pPr>
            <a:r>
              <a:rPr lang="en-US" sz="2000" b="0" dirty="0">
                <a:latin typeface="Calibri"/>
              </a:rPr>
              <a:t>It is widely used as a nutrient medium for pigment production. For example, it has been used for red pigment production by Monascus ruber and can replace expensive ingredients such as yeast extract and mineral salts.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Cellulose-rich corn waste is also used as a culture medium for fungi such as:</a:t>
            </a:r>
          </a:p>
          <a:p>
            <a:pPr marL="342900" indent="-342900">
              <a:buFont typeface="Arial" panose="020B0604020202020204" pitchFamily="34" charset="0"/>
              <a:buChar char="•"/>
            </a:pPr>
            <a:r>
              <a:rPr lang="en-US" sz="2000" b="0" dirty="0">
                <a:latin typeface="Calibri"/>
              </a:rPr>
              <a:t>Penicillium resticulosum</a:t>
            </a:r>
          </a:p>
          <a:p>
            <a:pPr marL="342900" indent="-342900">
              <a:buFont typeface="Arial" panose="020B0604020202020204" pitchFamily="34" charset="0"/>
              <a:buChar char="•"/>
            </a:pPr>
            <a:r>
              <a:rPr lang="en-US" sz="2000" b="0" dirty="0">
                <a:latin typeface="Calibri"/>
              </a:rPr>
              <a:t>Rhodotorula glutinis</a:t>
            </a:r>
          </a:p>
          <a:p>
            <a:pPr>
              <a:spcAft>
                <a:spcPts val="600"/>
              </a:spcAft>
            </a:pPr>
            <a:r>
              <a:rPr lang="en-US" sz="2000" b="0" dirty="0">
                <a:latin typeface="Calibri"/>
              </a:rPr>
              <a:t>which produce carotenoids using hydrolyzed legume was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3. Whey</a:t>
            </a:r>
          </a:p>
          <a:p>
            <a:pPr>
              <a:spcAft>
                <a:spcPts val="600"/>
              </a:spcAft>
            </a:pPr>
            <a:r>
              <a:rPr lang="en-US" sz="2000" b="0" dirty="0">
                <a:latin typeface="Calibri"/>
              </a:rPr>
              <a:t>Whey is one of the major by-products of the dairy industry and is rich in:</a:t>
            </a:r>
          </a:p>
          <a:p>
            <a:pPr marL="342900" indent="-342900">
              <a:buFont typeface="Arial" panose="020B0604020202020204" pitchFamily="34" charset="0"/>
              <a:buChar char="•"/>
            </a:pPr>
            <a:r>
              <a:rPr lang="en-US" sz="2000" b="0" dirty="0">
                <a:latin typeface="Calibri"/>
              </a:rPr>
              <a:t>proteins</a:t>
            </a:r>
          </a:p>
          <a:p>
            <a:pPr marL="342900" indent="-342900">
              <a:buFont typeface="Arial" panose="020B0604020202020204" pitchFamily="34" charset="0"/>
              <a:buChar char="•"/>
            </a:pPr>
            <a:r>
              <a:rPr lang="en-US" sz="2000" b="0" dirty="0">
                <a:latin typeface="Calibri"/>
              </a:rPr>
              <a:t>lactose</a:t>
            </a:r>
          </a:p>
          <a:p>
            <a:pPr>
              <a:spcAft>
                <a:spcPts val="600"/>
              </a:spcAft>
            </a:pPr>
            <a:r>
              <a:rPr lang="en-US" sz="2000" b="0" dirty="0">
                <a:latin typeface="Calibri"/>
              </a:rPr>
              <a:t>Therefore, it is suitable for microorganisms capable of lactose utilization. Whey has been used in the production of yellow and pink pigments by fungi and yeasts such as Rhodotorula rubra.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8. Sources of Food Waste</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4. Fruit and Vegetable Wastes</a:t>
            </a:r>
          </a:p>
          <a:p>
            <a:pPr>
              <a:spcAft>
                <a:spcPts val="600"/>
              </a:spcAft>
            </a:pPr>
            <a:r>
              <a:rPr lang="en-US" sz="2000" b="0" dirty="0">
                <a:latin typeface="Calibri"/>
              </a:rPr>
              <a:t>These include:</a:t>
            </a:r>
          </a:p>
          <a:p>
            <a:pPr marL="342900" indent="-342900">
              <a:buFont typeface="Arial" panose="020B0604020202020204" pitchFamily="34" charset="0"/>
              <a:buChar char="•"/>
            </a:pPr>
            <a:r>
              <a:rPr lang="en-US" sz="2000" b="0" dirty="0">
                <a:latin typeface="Calibri"/>
              </a:rPr>
              <a:t>peels</a:t>
            </a:r>
          </a:p>
          <a:p>
            <a:pPr marL="342900" indent="-342900">
              <a:buFont typeface="Arial" panose="020B0604020202020204" pitchFamily="34" charset="0"/>
              <a:buChar char="•"/>
            </a:pPr>
            <a:r>
              <a:rPr lang="en-US" sz="2000" b="0" dirty="0">
                <a:latin typeface="Calibri"/>
              </a:rPr>
              <a:t>seeds</a:t>
            </a:r>
          </a:p>
          <a:p>
            <a:pPr marL="342900" indent="-342900">
              <a:buFont typeface="Arial" panose="020B0604020202020204" pitchFamily="34" charset="0"/>
              <a:buChar char="•"/>
            </a:pPr>
            <a:r>
              <a:rPr lang="en-US" sz="2000" b="0" dirty="0">
                <a:latin typeface="Calibri"/>
              </a:rPr>
              <a:t>pulp</a:t>
            </a:r>
          </a:p>
          <a:p>
            <a:pPr marL="342900" indent="-342900">
              <a:buFont typeface="Arial" panose="020B0604020202020204" pitchFamily="34" charset="0"/>
              <a:buChar char="•"/>
            </a:pPr>
            <a:r>
              <a:rPr lang="en-US" sz="2000" b="0" dirty="0">
                <a:latin typeface="Calibri"/>
              </a:rPr>
              <a:t>washing water</a:t>
            </a:r>
          </a:p>
          <a:p>
            <a:pPr>
              <a:spcAft>
                <a:spcPts val="600"/>
              </a:spcAft>
            </a:pPr>
            <a:r>
              <a:rPr lang="en-US" sz="2000" b="0" dirty="0">
                <a:latin typeface="Calibri"/>
              </a:rPr>
              <a:t>which serve as nutrient-rich materials for microbial fermentation. For instance, jackfruit seeds combined with carbon sources were used for red pigment production by Monascus purpureus through solid-state fermentation.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Pigment-producing microorganisms have significant importance in food and pharmaceutical industries due to their environmental, economic, and health-related advantages.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1. Environmental Sustainability</a:t>
            </a:r>
          </a:p>
          <a:p>
            <a:pPr>
              <a:spcAft>
                <a:spcPts val="600"/>
              </a:spcAft>
            </a:pPr>
            <a:r>
              <a:rPr lang="en-US" sz="2000" b="0" dirty="0">
                <a:latin typeface="Calibri"/>
              </a:rPr>
              <a:t>Agricultural and industrial wastes can be utilized as substrates for microbial growth, supporting the circular economy concept while reducing:</a:t>
            </a:r>
          </a:p>
          <a:p>
            <a:pPr marL="342900" indent="-342900">
              <a:buFont typeface="Arial" panose="020B0604020202020204" pitchFamily="34" charset="0"/>
              <a:buChar char="•"/>
            </a:pPr>
            <a:r>
              <a:rPr lang="en-US" sz="2000" b="0" dirty="0">
                <a:latin typeface="Calibri"/>
              </a:rPr>
              <a:t>waste accumulation</a:t>
            </a:r>
          </a:p>
          <a:p>
            <a:pPr marL="342900" indent="-342900">
              <a:buFont typeface="Arial" panose="020B0604020202020204" pitchFamily="34" charset="0"/>
              <a:buChar char="•"/>
            </a:pPr>
            <a:r>
              <a:rPr lang="en-US" sz="2000" b="0" dirty="0">
                <a:latin typeface="Calibri"/>
              </a:rPr>
              <a:t>environmental pollution</a:t>
            </a:r>
          </a:p>
          <a:p>
            <a:pPr marL="342900" indent="-342900">
              <a:buFont typeface="Arial" panose="020B0604020202020204" pitchFamily="34" charset="0"/>
              <a:buChar char="•"/>
            </a:pPr>
            <a:r>
              <a:rPr lang="en-US" sz="2000" b="0" dirty="0">
                <a:latin typeface="Calibri"/>
              </a:rPr>
              <a:t>greenhouse gas emissions associated with petroleum-based synthetic pigment production.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2. High Efficiency and Productivity</a:t>
            </a:r>
          </a:p>
          <a:p>
            <a:pPr>
              <a:spcAft>
                <a:spcPts val="600"/>
              </a:spcAft>
            </a:pPr>
            <a:r>
              <a:rPr lang="en-US" sz="2000" b="0" dirty="0">
                <a:latin typeface="Calibri"/>
              </a:rPr>
              <a:t>Microbial systems, especially genetically engineered strains, can produce pigments more efficiently and within shorter periods compared to plant or animal sources. Advances in metabolic engineering have significantly improved pigment yield using low-cost substrates.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3. Continuous Production</a:t>
            </a:r>
          </a:p>
          <a:p>
            <a:pPr>
              <a:spcAft>
                <a:spcPts val="600"/>
              </a:spcAft>
            </a:pPr>
            <a:r>
              <a:rPr lang="en-US" sz="2000" b="0" dirty="0">
                <a:latin typeface="Calibri"/>
              </a:rPr>
              <a:t>Microbial fermentation allows year-round pigment production regardless of seasonal or climatic conditions, unlike plant-based pigment sources that depend on agricultural cycles.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4. Health and Safety</a:t>
            </a:r>
          </a:p>
          <a:p>
            <a:pPr>
              <a:spcAft>
                <a:spcPts val="600"/>
              </a:spcAft>
            </a:pPr>
            <a:r>
              <a:rPr lang="en-US" sz="2000" b="0" dirty="0">
                <a:latin typeface="Calibri"/>
              </a:rPr>
              <a:t>Natural microbial pigments are:</a:t>
            </a:r>
          </a:p>
          <a:p>
            <a:pPr marL="342900" indent="-342900">
              <a:buFont typeface="Arial" panose="020B0604020202020204" pitchFamily="34" charset="0"/>
              <a:buChar char="•"/>
            </a:pPr>
            <a:r>
              <a:rPr lang="en-US" sz="2000" b="0" dirty="0">
                <a:latin typeface="Calibri"/>
              </a:rPr>
              <a:t>non-toxic</a:t>
            </a:r>
          </a:p>
          <a:p>
            <a:pPr marL="342900" indent="-342900">
              <a:buFont typeface="Arial" panose="020B0604020202020204" pitchFamily="34" charset="0"/>
              <a:buChar char="•"/>
            </a:pPr>
            <a:r>
              <a:rPr lang="en-US" sz="2000" b="0" dirty="0">
                <a:latin typeface="Calibri"/>
              </a:rPr>
              <a:t>biodegradable</a:t>
            </a:r>
          </a:p>
          <a:p>
            <a:pPr marL="342900" indent="-342900">
              <a:buFont typeface="Arial" panose="020B0604020202020204" pitchFamily="34" charset="0"/>
              <a:buChar char="•"/>
            </a:pPr>
            <a:r>
              <a:rPr lang="en-US" sz="2000" b="0" dirty="0">
                <a:latin typeface="Calibri"/>
              </a:rPr>
              <a:t>safer than synthetic pigments</a:t>
            </a:r>
          </a:p>
          <a:p>
            <a:pPr>
              <a:spcAft>
                <a:spcPts val="600"/>
              </a:spcAft>
            </a:pPr>
            <a:r>
              <a:rPr lang="en-US" sz="2000" b="0" dirty="0">
                <a:latin typeface="Calibri"/>
              </a:rPr>
              <a:t>which are often associated with toxicity and carcinogenic risks.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9. Benefits of Microbial Extraction</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5. Cost Reduction</a:t>
            </a:r>
          </a:p>
          <a:p>
            <a:pPr>
              <a:spcAft>
                <a:spcPts val="600"/>
              </a:spcAft>
            </a:pPr>
            <a:r>
              <a:rPr lang="en-US" sz="2000" b="0" dirty="0">
                <a:latin typeface="Calibri"/>
              </a:rPr>
              <a:t>Fermentation-based pigment production is generally less expensive than extraction from plants or animals because it avoids cultivation and intensive resource consumption. Optimizing fermentation conditions and growth media further increases production efficiency and reduces purification costs.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10. Challenges and Limitations</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000" b="0" dirty="0">
                <a:latin typeface="Calibri"/>
              </a:rPr>
              <a:t>Despite the significant advantages of microbial pigments, several limitations hinder their large-scale industrial application.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10. Challenges and Limitations</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1. Difficulty in Industrial Scale-Up</a:t>
            </a:r>
          </a:p>
          <a:p>
            <a:pPr>
              <a:spcAft>
                <a:spcPts val="600"/>
              </a:spcAft>
            </a:pPr>
            <a:r>
              <a:rPr lang="en-US" sz="2000" b="0" dirty="0">
                <a:latin typeface="Calibri"/>
              </a:rPr>
              <a:t>One of the major challenges is transferring pigment production from laboratory scale to industrial scale due to the conflict between:</a:t>
            </a:r>
          </a:p>
          <a:p>
            <a:pPr marL="342900" indent="-342900">
              <a:buFont typeface="Arial" panose="020B0604020202020204" pitchFamily="34" charset="0"/>
              <a:buChar char="•"/>
            </a:pPr>
            <a:r>
              <a:rPr lang="en-US" sz="2000" b="0" dirty="0">
                <a:latin typeface="Calibri"/>
              </a:rPr>
              <a:t>microbial cell growth</a:t>
            </a:r>
          </a:p>
          <a:p>
            <a:pPr marL="342900" indent="-342900">
              <a:buFont typeface="Arial" panose="020B0604020202020204" pitchFamily="34" charset="0"/>
              <a:buChar char="•"/>
            </a:pPr>
            <a:r>
              <a:rPr lang="en-US" sz="2000" b="0" dirty="0">
                <a:latin typeface="Calibri"/>
              </a:rPr>
              <a:t>pigment accumulation</a:t>
            </a:r>
          </a:p>
          <a:p>
            <a:pPr>
              <a:spcAft>
                <a:spcPts val="600"/>
              </a:spcAft>
            </a:pPr>
            <a:r>
              <a:rPr lang="en-US" sz="2000" b="0" dirty="0">
                <a:latin typeface="Calibri"/>
              </a:rPr>
              <a:t>Accumulation of toxic metabolic intermediates and metabolic imbalances can reduce production efficiency. To overcome this issue, researchers proposed:</a:t>
            </a:r>
          </a:p>
          <a:p>
            <a:pPr marL="342900" indent="-342900">
              <a:buFont typeface="Arial" panose="020B0604020202020204" pitchFamily="34" charset="0"/>
              <a:buChar char="•"/>
            </a:pPr>
            <a:r>
              <a:rPr lang="en-US" sz="2000" b="0" dirty="0">
                <a:latin typeface="Calibri"/>
              </a:rPr>
              <a:t>two-stage cultivation systems</a:t>
            </a:r>
          </a:p>
          <a:p>
            <a:pPr marL="342900" indent="-342900">
              <a:buFont typeface="Arial" panose="020B0604020202020204" pitchFamily="34" charset="0"/>
              <a:buChar char="•"/>
            </a:pPr>
            <a:r>
              <a:rPr lang="en-US" sz="2000" b="0" dirty="0">
                <a:latin typeface="Calibri"/>
              </a:rPr>
              <a:t>continuous control systems</a:t>
            </a:r>
          </a:p>
          <a:p>
            <a:pPr>
              <a:spcAft>
                <a:spcPts val="600"/>
              </a:spcAft>
            </a:pPr>
            <a:r>
              <a:rPr lang="en-US" sz="2000" b="0" dirty="0">
                <a:latin typeface="Calibri"/>
              </a:rPr>
              <a:t>However, these approaches require advanced sensors, monitoring systems, and high operational costs.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10. Challenges and Limitations</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2. Toxicity and Low Yield</a:t>
            </a:r>
          </a:p>
          <a:p>
            <a:pPr>
              <a:spcAft>
                <a:spcPts val="600"/>
              </a:spcAft>
            </a:pPr>
            <a:r>
              <a:rPr lang="en-US" sz="2000" b="0" dirty="0">
                <a:latin typeface="Calibri"/>
              </a:rPr>
              <a:t>Some pigment-producing microorganisms may generate toxic compounds such as:</a:t>
            </a:r>
          </a:p>
          <a:p>
            <a:pPr marL="342900" indent="-342900">
              <a:buFont typeface="Arial" panose="020B0604020202020204" pitchFamily="34" charset="0"/>
              <a:buChar char="•"/>
            </a:pPr>
            <a:r>
              <a:rPr lang="en-US" sz="2000" b="0" dirty="0">
                <a:latin typeface="Calibri"/>
              </a:rPr>
              <a:t>citrinin produced by Monascus</a:t>
            </a:r>
          </a:p>
          <a:p>
            <a:pPr>
              <a:spcAft>
                <a:spcPts val="600"/>
              </a:spcAft>
            </a:pPr>
            <a:r>
              <a:rPr lang="en-US" sz="2000" b="0" dirty="0">
                <a:latin typeface="Calibri"/>
              </a:rPr>
              <a:t>In addition, many wild-type strains naturally exhibit low pigment yields and require long fermentation periods, making industrial production economically challenging.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10. Challenges and Limitations</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3. Optimization of Growth Conditions</a:t>
            </a:r>
          </a:p>
          <a:p>
            <a:pPr>
              <a:spcAft>
                <a:spcPts val="600"/>
              </a:spcAft>
            </a:pPr>
            <a:r>
              <a:rPr lang="en-US" sz="2000" b="0" dirty="0">
                <a:latin typeface="Calibri"/>
              </a:rPr>
              <a:t>Each microbial strain requires specific optimal conditions including:</a:t>
            </a:r>
          </a:p>
          <a:p>
            <a:pPr marL="342900" indent="-342900">
              <a:buFont typeface="Arial" panose="020B0604020202020204" pitchFamily="34" charset="0"/>
              <a:buChar char="•"/>
            </a:pPr>
            <a:r>
              <a:rPr lang="en-US" sz="2000" b="0" dirty="0">
                <a:latin typeface="Calibri"/>
              </a:rPr>
              <a:t>suitable pH</a:t>
            </a:r>
          </a:p>
          <a:p>
            <a:pPr marL="342900" indent="-342900">
              <a:buFont typeface="Arial" panose="020B0604020202020204" pitchFamily="34" charset="0"/>
              <a:buChar char="•"/>
            </a:pPr>
            <a:r>
              <a:rPr lang="en-US" sz="2000" b="0" dirty="0">
                <a:latin typeface="Calibri"/>
              </a:rPr>
              <a:t>proper carbon source</a:t>
            </a:r>
          </a:p>
          <a:p>
            <a:pPr marL="342900" indent="-342900">
              <a:buFont typeface="Arial" panose="020B0604020202020204" pitchFamily="34" charset="0"/>
              <a:buChar char="•"/>
            </a:pPr>
            <a:r>
              <a:rPr lang="en-US" sz="2000" b="0" dirty="0">
                <a:latin typeface="Calibri"/>
              </a:rPr>
              <a:t>appropriate nitrogen source</a:t>
            </a:r>
          </a:p>
          <a:p>
            <a:pPr marL="342900" indent="-342900">
              <a:buFont typeface="Arial" panose="020B0604020202020204" pitchFamily="34" charset="0"/>
              <a:buChar char="•"/>
            </a:pPr>
            <a:r>
              <a:rPr lang="en-US" sz="2000" b="0" dirty="0">
                <a:latin typeface="Calibri"/>
              </a:rPr>
              <a:t>controlled fermentation conditions</a:t>
            </a:r>
          </a:p>
          <a:p>
            <a:pPr>
              <a:spcAft>
                <a:spcPts val="600"/>
              </a:spcAft>
            </a:pPr>
            <a:r>
              <a:rPr lang="en-US" sz="2000" b="0" dirty="0">
                <a:latin typeface="Calibri"/>
              </a:rPr>
              <a:t>Traditional optimization methods are time-consuming, expensive, and require numerous experimental trials.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 Title box -->
      <p:sp>
        <p:nvSpPr>
          <p:cNvPr id="2" name="Title"/>
          <p:cNvSpPr>
            <a:spLocks noGrp="1"/>
          </p:cNvSpPr>
          <p:nvPr/>
        </p:nvSpPr>
        <p:spPr>
          <a:xfrm>
            <a:off x="457200" y="274320"/>
            <a:ext cx="8229600" cy="838200"/>
          </a:xfrm>
          <a:prstGeom prst="rect">
            <a:avLst/>
          </a:prstGeom>
          <a:noFill/>
        </p:spPr>
        <p:txBody>
          <a:bodyPr wrap="square" rtlCol="0" anchor="t">
            <a:normAutofit/>
          </a:bodyPr>
          <a:lstStyle/>
          <a:p>
            <a:pPr algn="l"/>
            <a:r>
              <a:rPr lang="en-US" sz="3200" b="1" dirty="0">
                <a:solidFill>
                  <a:srgbClr val="1F3864"/>
                </a:solidFill>
                <a:latin typeface="Calibri"/>
              </a:rPr>
              <a:t>10. Challenges and Limitations</a:t>
            </a:r>
          </a:p>
        </p:txBody>
      </p:sp>
      <!-- Body box -->
      <p:sp>
        <p:nvSpPr>
          <p:cNvPr id="3" name="Body"/>
          <p:cNvSpPr>
            <a:spLocks noGrp="1"/>
          </p:cNvSpPr>
          <p:nvPr/>
        </p:nvSpPr>
        <p:spPr>
          <a:xfrm>
            <a:off x="457200" y="1219200"/>
            <a:ext cx="8229600" cy="5410200"/>
          </a:xfrm>
          <a:prstGeom prst="rect">
            <a:avLst/>
          </a:prstGeom>
          <a:noFill/>
        </p:spPr>
        <p:txBody>
          <a:bodyPr wrap="square" rtlCol="0" anchor="t">
            <a:normAutofit/>
          </a:bodyPr>
          <a:lstStyle/>
          <a:p>
            <a:pPr>
              <a:spcAft>
                <a:spcPts val="600"/>
              </a:spcAft>
            </a:pPr>
            <a:r>
              <a:rPr lang="en-US" sz="2200" b="1" dirty="0">
                <a:solidFill>
                  <a:srgbClr val="2E5496"/>
                </a:solidFill>
                <a:latin typeface="Calibri"/>
              </a:rPr>
              <a:t>4. Strain Improvement Challenges</a:t>
            </a:r>
          </a:p>
          <a:p>
            <a:pPr>
              <a:spcAft>
                <a:spcPts val="600"/>
              </a:spcAft>
            </a:pPr>
            <a:r>
              <a:rPr lang="en-US" sz="2000" b="0" dirty="0">
                <a:latin typeface="Calibri"/>
              </a:rPr>
              <a:t>Several techniques are used to improve pigment productivity, including:</a:t>
            </a:r>
          </a:p>
          <a:p>
            <a:pPr marL="342900" indent="-342900">
              <a:buFont typeface="Arial" panose="020B0604020202020204" pitchFamily="34" charset="0"/>
              <a:buChar char="•"/>
            </a:pPr>
            <a:r>
              <a:rPr lang="en-US" sz="2000" b="0" dirty="0">
                <a:latin typeface="Calibri"/>
              </a:rPr>
              <a:t>random mutagenesis</a:t>
            </a:r>
          </a:p>
          <a:p>
            <a:pPr marL="342900" indent="-342900">
              <a:buFont typeface="Arial" panose="020B0604020202020204" pitchFamily="34" charset="0"/>
              <a:buChar char="•"/>
            </a:pPr>
            <a:r>
              <a:rPr lang="en-US" sz="2000" b="0" dirty="0">
                <a:latin typeface="Calibri"/>
              </a:rPr>
              <a:t>ultraviolet radiation</a:t>
            </a:r>
          </a:p>
          <a:p>
            <a:pPr marL="342900" indent="-342900">
              <a:buFont typeface="Arial" panose="020B0604020202020204" pitchFamily="34" charset="0"/>
              <a:buChar char="•"/>
            </a:pPr>
            <a:r>
              <a:rPr lang="en-US" sz="2000" b="0" dirty="0">
                <a:latin typeface="Calibri"/>
              </a:rPr>
              <a:t>EMS</a:t>
            </a:r>
          </a:p>
          <a:p>
            <a:pPr marL="342900" indent="-342900">
              <a:buFont typeface="Arial" panose="020B0604020202020204" pitchFamily="34" charset="0"/>
              <a:buChar char="•"/>
            </a:pPr>
            <a:r>
              <a:rPr lang="en-US" sz="2000" b="0" dirty="0">
                <a:latin typeface="Calibri"/>
              </a:rPr>
              <a:t>NTG</a:t>
            </a:r>
          </a:p>
          <a:p>
            <a:pPr>
              <a:spcAft>
                <a:spcPts val="600"/>
              </a:spcAft>
            </a:pPr>
            <a:r>
              <a:rPr lang="en-US" sz="2000" b="0" dirty="0">
                <a:latin typeface="Calibri"/>
              </a:rPr>
              <a:t>Although these methods may enhance pigment yield, they can also introduce unwanted genetic mutations and raise safety concerns regarding industrial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